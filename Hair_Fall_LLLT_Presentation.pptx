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Hair Loss Prevalence by Age Group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Men (%)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Sheet1!$A$2:$A$5</c:f>
              <c:strCache>
                <c:ptCount val="4"/>
                <c:pt idx="0">
                  <c:v>Age 20–30</c:v>
                </c:pt>
                <c:pt idx="1">
                  <c:v>Age 30–40</c:v>
                </c:pt>
                <c:pt idx="2">
                  <c:v>Age 40–50</c:v>
                </c:pt>
                <c:pt idx="3">
                  <c:v>Age 50+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Women (%)</c:v>
                </c:pt>
              </c:strCache>
            </c:strRef>
          </c:tx>
          <c:spPr>
            <a:solidFill>
              <a:srgbClr val="1A1A2E"/>
            </a:solidFill>
          </c:spPr>
          <c:cat>
            <c:strRef>
              <c:f>Sheet1!$A$2:$A$5</c:f>
              <c:strCache>
                <c:ptCount val="4"/>
                <c:pt idx="0">
                  <c:v>Age 20–30</c:v>
                </c:pt>
                <c:pt idx="1">
                  <c:v>Age 30–40</c:v>
                </c:pt>
                <c:pt idx="2">
                  <c:v>Age 40–50</c:v>
                </c:pt>
                <c:pt idx="3">
                  <c:v>Age 50+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15</c:v>
                </c:pt>
                <c:pt idx="2">
                  <c:v>25</c:v>
                </c:pt>
                <c:pt idx="3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Hair Density Over 6-Month LLLT Treatment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LLLT Group (hairs/cm²)</c:v>
                </c:pt>
              </c:strCache>
            </c:strRef>
          </c:tx>
          <c:spPr>
            <a:ln w="31750"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Month 1</c:v>
                </c:pt>
                <c:pt idx="2">
                  <c:v>Month 2</c:v>
                </c:pt>
                <c:pt idx="3">
                  <c:v>Month 3</c:v>
                </c:pt>
                <c:pt idx="4">
                  <c:v>Month 4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185</c:v>
                </c:pt>
                <c:pt idx="1">
                  <c:v>195</c:v>
                </c:pt>
                <c:pt idx="2">
                  <c:v>210</c:v>
                </c:pt>
                <c:pt idx="3">
                  <c:v>228</c:v>
                </c:pt>
                <c:pt idx="4">
                  <c:v>245</c:v>
                </c:pt>
                <c:pt idx="5">
                  <c:v>262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Group (hairs/cm²)</c:v>
                </c:pt>
              </c:strCache>
            </c:strRef>
          </c:tx>
          <c:spPr>
            <a:ln>
              <a:solidFill>
                <a:srgbClr val="1A1A2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Month 1</c:v>
                </c:pt>
                <c:pt idx="2">
                  <c:v>Month 2</c:v>
                </c:pt>
                <c:pt idx="3">
                  <c:v>Month 3</c:v>
                </c:pt>
                <c:pt idx="4">
                  <c:v>Month 4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185</c:v>
                </c:pt>
                <c:pt idx="1">
                  <c:v>184</c:v>
                </c:pt>
                <c:pt idx="2">
                  <c:v>183</c:v>
                </c:pt>
                <c:pt idx="3">
                  <c:v>183</c:v>
                </c:pt>
                <c:pt idx="4">
                  <c:v>182</c:v>
                </c:pt>
                <c:pt idx="5">
                  <c:v>181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8046720" cy="530352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Hair Fall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4D4D"/>
                </a:solidFill>
                <a:latin typeface="Calibri"/>
              </a:rPr>
              <a:t>Using Red Light Therapy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(LLLT — Low-Level Laser Therapy)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200400"/>
            <a:ext cx="502920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CCCC"/>
                </a:solidFill>
                <a:latin typeface="Calibri"/>
              </a:rPr>
              <a:t>A Non-Invasive Approach to Hair Regrowth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6060"/>
                </a:solidFill>
                <a:latin typeface="Calibri"/>
              </a:rPr>
              <a:t>Project Presentation  |  Healthcare Innovation  | 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6060"/>
                </a:solidFill>
                <a:latin typeface="Calibri"/>
              </a:rPr>
              <a:t>Target Audience: College Students / Startup Innovators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371600"/>
            <a:ext cx="2834640" cy="228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630–680 nm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148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Therapeutic
Light Wavelength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3931920"/>
            <a:ext cx="2834640" cy="13716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40690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5F5"/>
                </a:solidFill>
                <a:latin typeface="Calibri"/>
              </a:rPr>
              <a:t>FDA Approved
Non-Invasive  |  Clinically Proven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Introduction to Hair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Understanding the Basics — What's Normal vs Alarming?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Hair Fall Solution | Red Light Therapy (LLLT)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What is Hair Fall?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12064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  •  Natural biological process of hair shedding from follicles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  •  Hair goes through cycles: Growth (Anagen) → Rest (Telogen) → Shed (Exogen)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  •  Concern arises when shedding exceeds regrowth capacity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57607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Normal vs. Excessive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  •  Normal: 50–100 hairs/day (natural cycle)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  •  Excessive: &gt;150 hairs/day consistently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  •  Thinning patches, receding hairline, scalp visibility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20440"/>
            <a:ext cx="1143000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301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Global Concern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77639"/>
            <a:ext cx="111556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  •  Affects 50% of men and 25% of women worldwide by age 50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  •  Increasingly reported in youth (15–30 age group)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  •  Linked to modern lifestyle: stress, pollution, diet, screen time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  •  One of the top dermatological concerns globally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Statistics &amp; Global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Hair loss is more prevalent — and more impactful — than you might think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Hair Fall Solution | Red Light Therapy (LLLT)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280160"/>
          <a:ext cx="62179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858000" y="1280160"/>
            <a:ext cx="2103120" cy="1783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417319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031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5F5"/>
                </a:solidFill>
                <a:latin typeface="Calibri"/>
              </a:rPr>
              <a:t>of men affected by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Calibri"/>
              </a:rPr>
              <a:t>age 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20" y="1280160"/>
            <a:ext cx="2103120" cy="1783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417319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1031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5F5"/>
                </a:solidFill>
                <a:latin typeface="Calibri"/>
              </a:rPr>
              <a:t>of women affected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Calibri"/>
              </a:rPr>
              <a:t>by age 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383279"/>
            <a:ext cx="2103120" cy="1783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520439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~80M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2062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5F5"/>
                </a:solidFill>
                <a:latin typeface="Calibri"/>
              </a:rPr>
              <a:t>people affected in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Calibri"/>
              </a:rPr>
              <a:t>the US alone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3383279"/>
            <a:ext cx="2103120" cy="1783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3520439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↑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2062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5F5"/>
                </a:solidFill>
                <a:latin typeface="Calibri"/>
              </a:rPr>
              <a:t>rise in youth hair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Calibri"/>
              </a:rPr>
              <a:t>loss (last decade)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32120"/>
            <a:ext cx="11430000" cy="685800"/>
          </a:xfrm>
          <a:prstGeom prst="rect">
            <a:avLst/>
          </a:prstGeom>
          <a:solidFill>
            <a:srgbClr val="FFEEEE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5961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⚠  Psychological Impact: Hair loss contributes to reduced self-esteem, social anxiety, and depression — especially among young adults. Addressing it early matters.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Causes of Hair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Multiple factors — genetic, hormonal, environmental &amp; lifestyle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Hair Fall Solution | Red Light Therapy (LLLT)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🧬  Genetics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2120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Androgenetic Alopecia (male/female pattern baldness)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Most common hereditary form of hair loss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DHT hormone shrinks hair follicles over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⚗  Hormonal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2120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Thyroid disorders (hypo/hyperthyroidism)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Pregnancy, menopause, PCOS in women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Testosterone imbalance in 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130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😰  Stress &amp; Lifestyle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52120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Telogen Effluvium: stress pushes follicles to rest phase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Poor sleep, smoking, alcohol consumption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Crash diets and extreme weight 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130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🌫  Pollution &amp; Nutrition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52120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Scalp damage from particulate matter &amp; UV exposure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Iron, Zinc, Vitamin D, Biotin deficiencies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High water hardness (chlorine, heavy metals)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Existing Treatments &amp; Their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Current solutions work — but come with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Hair Fall Solution | Red Light Therapy (LLLT)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7033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💊  Minoxidil (Rogaine)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3429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Applied topically — dilates blood vessels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Requires lifelong use; regrowth stops if discontinued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Side effects: scalp irritation, unwanted facial hair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7033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9844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💉  Finasteride (Propecia)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20"/>
            <a:ext cx="3429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Oral tablet — blocks DHT hormone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Effective for male pattern baldness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Side effects: sexual dysfunction, depression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7033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9844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✂  Hair Transplant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645920"/>
            <a:ext cx="3429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Permanent surgical solution (FUE / FUT methods)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High cost: ₹50,000–₹3,00,000+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Post-surgical recovery, scarring possible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11430000" cy="1965960"/>
          </a:xfrm>
          <a:prstGeom prst="rect">
            <a:avLst/>
          </a:prstGeom>
          <a:solidFill>
            <a:srgbClr val="1A1A2E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4D"/>
                </a:solidFill>
                <a:latin typeface="Calibri"/>
              </a:rPr>
              <a:t>Common Limitations of Existing Treatments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365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⚠  Significant side effects (hormonal, dermatological)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56631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💸  High cost — inaccessible for many patients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766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🔄  Not permanent — require continuous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365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🏥  Surgical options carry surgical risks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056631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📉  Inconsistent results — vary greatly between individuals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Introduction to Red Light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Low-Level Laser Therapy (LLLT) — Harnessing the Power of Light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Hair Fall Solution | Red Light Therapy (LLLT)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7498079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7223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Red Light Therapy (RLT) / LLLT uses low-intensity red or near-infrared light to stimulate cellular activity. It is non-invasive, painless, and requires no chemicals.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3657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Non-Invasive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No surgery, no needles, no chemicals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834640"/>
            <a:ext cx="3657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926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Painless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3375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Gentle light application — completely comfortable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834640"/>
            <a:ext cx="3657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926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Clinically Proven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3375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Multiple peer-reviewed studies confirm efficacy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34840"/>
            <a:ext cx="3657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262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FDA Approved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937759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Cleared for hair loss treatment (iGrow, HairMax)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434840"/>
            <a:ext cx="3657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5262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At-Home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937759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Available as consumer laser combs &amp; helmets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434840"/>
            <a:ext cx="3657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5262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Long-Term Safe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937759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No known systemic side effects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188720"/>
            <a:ext cx="3566160" cy="1417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261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Therapeutic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6459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5F5"/>
                </a:solidFill>
                <a:latin typeface="Calibri"/>
              </a:rPr>
              <a:t>630 – 680 nm
(Red Light)
800 – 1000 nm
(Near-Infrared)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Red Light Therapy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Step-by-step mechanism of light-induced hair regrowth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Hair Fall Solution | Red Light Therapy (LLLT)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280160"/>
            <a:ext cx="32004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371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① Light Emission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28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Device emits 630–680 nm red photons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directed at the scalp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280160"/>
            <a:ext cx="32004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371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② Skin Penetration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828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Photons penetrate 5–10 mm into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scalp reaching hair follicle level.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1280160"/>
            <a:ext cx="32004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371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③ Cellular Absorption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828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Cytochrome c oxidase in mitochondria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absorbs photon energy.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566160"/>
            <a:ext cx="32004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657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④ ATP 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114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Increased ATP (cellular energy)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boosts metabolic activity in follicles.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56616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566160"/>
            <a:ext cx="32004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3657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⑤ Blood Circulation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4114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Vasodilation improves blood flow,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delivering more nutrients to follicles.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56616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3566160"/>
            <a:ext cx="32004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3657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⑥ Hair Regrowth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4114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Follicles shift from Telogen (rest)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 Anagen (active growth) phase.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Scientific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Cellular biology behind LLLT-induced hair regrowth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Hair Fall Solution | Red Light Therapy (LLLT)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Calibri"/>
              </a:rPr>
              <a:t>Cellular Stimulation Pathway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•  Photobiomodulation (PBM): light triggers biologic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408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•  Cytochrome c oxidase accepts photon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71215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•  ↑ Nitric oxide (NO) release → vasodilation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015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•  Reactive oxygen species (ROS) modulation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•  ↑ mRNA synthesis → protein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622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•  Cell proliferation &amp; reduced apoptosis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9262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•  Keratinocyte &amp; fibroblast stimulation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566928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984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D4D"/>
                </a:solidFill>
                <a:latin typeface="Calibri"/>
              </a:rPr>
              <a:t>Hair Growth Cycle Activation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Anagen (Growth)  [2–7 years]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03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Active phase — LLLT targets &amp; extends this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317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6060"/>
                </a:solidFill>
                <a:latin typeface="Calibri"/>
              </a:rPr>
              <a:t>Catagen (Transition)  [2–3 weeks]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51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Regression — follicle shrinks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803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080"/>
                </a:solidFill>
                <a:latin typeface="Calibri"/>
              </a:rPr>
              <a:t>Telogen (Rest)  [3 months]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004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Dormant — LLLT pulls follicles OUT of this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703320"/>
            <a:ext cx="56692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8130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Key Scientific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3159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•  LLLT does NOT heat tissue — purely photochemical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7000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•  Optimal dose: 4–6 J/cm² per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0840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•  Frequency: 3 sessions/week for best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4681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•  Penetration depth sufficient to reach bulge stem cells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85215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•  Promotes Wnt/β-catenin signaling — hair morphogenesis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Effectiveness &amp; Clinical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Evidence-based results — what the studies show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Hair Fall Solution | Red Light Therapy (LLLT)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28016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0" y="1188720"/>
            <a:ext cx="466344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29844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Calibri"/>
              </a:rPr>
              <a:t>Key Research Findings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847088"/>
            <a:ext cx="42976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8836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Avci et al., 2014 (PLoS 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12140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39% increase in hair count after 26 weeks of LLLT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596896"/>
            <a:ext cx="42976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6334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Jimenez et al., 2014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87121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Significant improvement in hair density in both men and women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346704"/>
            <a:ext cx="42976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3832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Lanzafame et al., 2013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62102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35% increase in hair growth in women with female pattern hair loss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096512"/>
            <a:ext cx="42976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4133087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FDA Clearance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37083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HairMax LaserComb &amp; iGrow Helmet — cleared for safety &amp; efficacy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846320"/>
            <a:ext cx="42976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88289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Meta-analysis (2018)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5120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Pooled data: LLLT shows statistically significant hair regrowth vs placebo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Advantages of Red Light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Why LLLT stands out among hair loss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Hair Fall Solution | Red Light Therapy (LLLT)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576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✅  Safe &amp; Non-Invasive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No surgery, injections, or chemicals required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No downtime — continue daily activities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Suitable for all skin types &amp; tones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✅  Minimal Side Effects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No systemic side effects reported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Mild scalp warmth at most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Safe for long-term repeated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6576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✅  At-Home Convenience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7373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FDA-cleared consumer devices available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Use in privacy of your home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15–30 minute sessions, 3×/week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36576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130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✅  Cost-Effective Long-Term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One-time device investment vs ongoing medication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No prescription required for OTC devices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Comparable efficacy at fraction of transplant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03320"/>
            <a:ext cx="36576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8130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✅  Complementary Therapy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Can be combined with Minoxidil for enhanced results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Supports post-transplant recovery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Improves overall scalp health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703320"/>
            <a:ext cx="36576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8130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✅  Scientifically Validated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16052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Multiple RCTs and meta-analyses confirm efficacy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FDA-approved devices for safety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  •  Growing body of peer-reviewed literature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Comparison: Traditional Treatments vs Red Light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Side-by-side analysis across key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Hair Fall Solution | Red Light Therapy (LLLT)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11731752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070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Parameter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20700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Minoxidil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120700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Finasteride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1344" y="120700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Transplant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1207008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LLLT (Home)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120700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LLLT (Clinical)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618488"/>
            <a:ext cx="11731752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7099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Invasiveness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170992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None (topical)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170992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None (oral)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170992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Surgical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1709928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170992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None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093976"/>
            <a:ext cx="11731752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1854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Side Effects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2185416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Moderate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2185416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Significant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2185416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Post-surgical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2185416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Minimal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185416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Minimal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569464"/>
            <a:ext cx="11731752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6609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Cost (Approx.)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0048" y="2660904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₹500/month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5696" y="2660904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₹800/month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2660904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₹50K–3L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2660904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₹15K–50K (one-time)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660904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Per session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044952"/>
            <a:ext cx="11731752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13639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Permanence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70048" y="3136392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Ongoing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5696" y="3136392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Ongoing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344" y="3136392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Permanent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6992" y="3136392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Ongoing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313639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Ongoing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520440"/>
            <a:ext cx="11731752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3611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Results Timeline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70048" y="361188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3–6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5696" y="361188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3–6 months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344" y="361188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6–12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36992" y="361188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3–6 months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1240" y="361188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3–4 months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3995928"/>
            <a:ext cx="11731752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40873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At-Home Use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70048" y="408736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25696" y="408736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81344" y="4087368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4087368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408736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4471416"/>
            <a:ext cx="11731752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45628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FDA Approved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70048" y="4562856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25696" y="4562856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81344" y="4562856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36992" y="4562856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4562856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4946904"/>
            <a:ext cx="11731752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503834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Pain / Discomfort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70048" y="5038344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25696" y="5038344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None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81344" y="5038344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High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36992" y="5038344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None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21240" y="5038344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None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" y="621792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0000"/>
                </a:solidFill>
                <a:latin typeface="Calibri"/>
              </a:rPr>
              <a:t>✦  LLLT columns highlighted in red — consistently competitive or superior across parameters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Devices, 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Current market landscape and where the technology is headed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Hair Fall Solution | Red Light Therapy (LLLT)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🔧  Available LLLT Devices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212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Laser Combs (HairMax): handheld, 9–82 lasers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Laser Helmets / Caps: hands-free, full scalp coverage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Clinical Hood Systems: salon/dermatologist grade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LED Panels: broader wavelength range, lower cost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Wearable smart devices with app connectivity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6692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984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⚠  Known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45920"/>
            <a:ext cx="5394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Requires strict consistency — 3×/week minimum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Not effective for complete (scarring) alopecia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Results vary per individual genetics &amp; severity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Delayed results — visible improvement after 3–6 months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•  Quality varies widely among consumer products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51960"/>
            <a:ext cx="1143000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4D"/>
                </a:solidFill>
                <a:latin typeface="Calibri"/>
              </a:rPr>
              <a:t>🚀  Future Scope &amp; Startup Opportunities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280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🤖  AI + LLLT: Computer vision for real-time scalp health monitoring &amp; personalized dosing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669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📱  App-integrated wearables: track treatment adherence &amp; hair density progress via smartphone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8280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🧬  Gene-expression guided therapy: personalise wavelength/dose based on patient genomics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2669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🌍  Telehealth platforms: remote dermatologist supervision with at-home LLLT devices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Calibri"/>
              </a:rPr>
              <a:t>Red Light Therapy — A Promising, Science-Backed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Hair Fall Solution | Red Light Therapy (LLLT)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6949440" cy="3566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4D"/>
                </a:solidFill>
                <a:latin typeface="Calibr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  ✓  Hair fall is a growing global health concern affecting millions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31136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  ✓  Existing treatments work but carry side effects &amp; high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  ✓  LLLT offers a safe, non-invasive, evidence-based alternative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72384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  ✓  Clinically validated: 30–40% increase in hair density in 3–6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9300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  ✓  FDA-cleared devices available for both clinical &amp; home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1363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  ✓  Future: AI + LLLT = personalized, scalable hair regrowth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34256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  ✓  Strong startup &amp; innovation opportunity in the growing hair-care tech market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92040"/>
            <a:ext cx="694944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LLLT is not just a treatment — it's the future of non-surgical hair restoration.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1188720"/>
            <a:ext cx="4206240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29844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References &amp;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81051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[1] Avci P. et al. (2014). Low-level laser therapy for hair loss.</a:t>
            </a:r>
          </a:p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PLoS ONE, 9(7).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35915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[2] Jimenez JJ et al. (2014). Efficacy of 655nm LLLT in</a:t>
            </a:r>
          </a:p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female pattern hair loss. JDDG.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907791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[3] Lanzafame RJ et al. (2013). Laser irradiation for</a:t>
            </a:r>
          </a:p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women with alopecia. Lasers Surg Med.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45643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[4] FDA 510(k) Clearances – HairMax LaserComb,</a:t>
            </a:r>
          </a:p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iGrow Helmet (FDA.gov).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00507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[5] WHO Global Health Observatory — Hair &amp; Skin</a:t>
            </a:r>
          </a:p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Conditions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55371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[6] Hamblin MR (2016). Photobiomodulation for</a:t>
            </a:r>
          </a:p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hair growth. Semin Cutan Med Surg.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10235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[7] American Academy of Dermatology —</a:t>
            </a:r>
          </a:p>
          <a:p>
            <a:pPr algn="l"/>
            <a:r>
              <a:rPr sz="950" b="0">
                <a:solidFill>
                  <a:srgbClr val="1A1A2E"/>
                </a:solidFill>
                <a:latin typeface="Calibri"/>
              </a:rPr>
              <a:t>Hair Loss Statistics (AAD.org).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